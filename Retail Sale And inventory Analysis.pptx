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0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E4BD"/>
    <a:srgbClr val="FFE7BD"/>
    <a:srgbClr val="EAB05C"/>
    <a:srgbClr val="FF6DEA"/>
    <a:srgbClr val="DD87A6"/>
    <a:srgbClr val="BA2D1C"/>
    <a:srgbClr val="CB8E3D"/>
    <a:srgbClr val="FFF0D5"/>
    <a:srgbClr val="047D9E"/>
    <a:srgbClr val="06ACD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3382" autoAdjust="0"/>
  </p:normalViewPr>
  <p:slideViewPr>
    <p:cSldViewPr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5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1D46A-FD8B-4263-A812-8A073ED3F9E6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0B9AB0-B58F-468D-901B-32CB277DB044}">
      <dgm:prSet/>
      <dgm:spPr/>
      <dgm:t>
        <a:bodyPr/>
        <a:lstStyle/>
        <a:p>
          <a:pPr rtl="0"/>
          <a:r>
            <a:rPr lang="en-US" dirty="0" smtClean="0"/>
            <a:t>01 </a:t>
          </a:r>
          <a:endParaRPr lang="en-US" dirty="0"/>
        </a:p>
      </dgm:t>
    </dgm:pt>
    <dgm:pt modelId="{ED5EF70D-1F99-4C3A-995C-75E3F7A88F38}" type="parTrans" cxnId="{9B13C3DC-72DF-4D84-A517-C789CD838558}">
      <dgm:prSet/>
      <dgm:spPr/>
      <dgm:t>
        <a:bodyPr/>
        <a:lstStyle/>
        <a:p>
          <a:endParaRPr lang="en-US"/>
        </a:p>
      </dgm:t>
    </dgm:pt>
    <dgm:pt modelId="{13AF805B-1B60-461D-AED3-274CA13F0256}" type="sibTrans" cxnId="{9B13C3DC-72DF-4D84-A517-C789CD838558}">
      <dgm:prSet/>
      <dgm:spPr/>
      <dgm:t>
        <a:bodyPr/>
        <a:lstStyle/>
        <a:p>
          <a:endParaRPr lang="en-US"/>
        </a:p>
      </dgm:t>
    </dgm:pt>
    <dgm:pt modelId="{01F4A108-434B-468D-8C54-A6EB640BC0B3}">
      <dgm:prSet/>
      <dgm:spPr/>
      <dgm:t>
        <a:bodyPr/>
        <a:lstStyle/>
        <a:p>
          <a:pPr rtl="0"/>
          <a:r>
            <a:rPr lang="en-US" dirty="0" smtClean="0"/>
            <a:t>02</a:t>
          </a:r>
          <a:endParaRPr lang="en-US" dirty="0"/>
        </a:p>
      </dgm:t>
    </dgm:pt>
    <dgm:pt modelId="{9F4AE950-1BD8-4FEB-BB68-879333D923D9}" type="parTrans" cxnId="{E12B3059-6D22-40C2-88A9-4B3BC9659869}">
      <dgm:prSet/>
      <dgm:spPr/>
      <dgm:t>
        <a:bodyPr/>
        <a:lstStyle/>
        <a:p>
          <a:endParaRPr lang="en-US"/>
        </a:p>
      </dgm:t>
    </dgm:pt>
    <dgm:pt modelId="{72E6E9E8-A51B-408D-AC4E-072C32AD7252}" type="sibTrans" cxnId="{E12B3059-6D22-40C2-88A9-4B3BC9659869}">
      <dgm:prSet/>
      <dgm:spPr/>
      <dgm:t>
        <a:bodyPr/>
        <a:lstStyle/>
        <a:p>
          <a:endParaRPr lang="en-US"/>
        </a:p>
      </dgm:t>
    </dgm:pt>
    <dgm:pt modelId="{A50FE432-C980-4760-9E53-16955A121107}">
      <dgm:prSet/>
      <dgm:spPr/>
      <dgm:t>
        <a:bodyPr/>
        <a:lstStyle/>
        <a:p>
          <a:pPr rtl="0"/>
          <a:r>
            <a:rPr lang="en-US" dirty="0" smtClean="0"/>
            <a:t>03</a:t>
          </a:r>
          <a:endParaRPr lang="en-US" dirty="0"/>
        </a:p>
      </dgm:t>
    </dgm:pt>
    <dgm:pt modelId="{E4CDC6BC-87E7-41DD-AAC1-9D8390733400}" type="parTrans" cxnId="{2D4D466F-7FD7-43F7-8355-BB9648C56A46}">
      <dgm:prSet/>
      <dgm:spPr/>
      <dgm:t>
        <a:bodyPr/>
        <a:lstStyle/>
        <a:p>
          <a:endParaRPr lang="en-US"/>
        </a:p>
      </dgm:t>
    </dgm:pt>
    <dgm:pt modelId="{7E22E26F-F3E9-4C3A-844F-BBEA1C21CA08}" type="sibTrans" cxnId="{2D4D466F-7FD7-43F7-8355-BB9648C56A46}">
      <dgm:prSet/>
      <dgm:spPr/>
      <dgm:t>
        <a:bodyPr/>
        <a:lstStyle/>
        <a:p>
          <a:endParaRPr lang="en-US"/>
        </a:p>
      </dgm:t>
    </dgm:pt>
    <dgm:pt modelId="{710AB4EB-F43B-41C6-8EEA-A607526A7DA6}">
      <dgm:prSet custT="1"/>
      <dgm:spPr/>
      <dgm:t>
        <a:bodyPr/>
        <a:lstStyle/>
        <a:p>
          <a:r>
            <a:rPr lang="en-US" sz="1800" dirty="0" err="1" smtClean="0"/>
            <a:t>Atithi</a:t>
          </a:r>
          <a:r>
            <a:rPr lang="en-US" sz="1800" dirty="0" smtClean="0"/>
            <a:t> Singh</a:t>
          </a:r>
          <a:endParaRPr lang="en-US" sz="1800" dirty="0"/>
        </a:p>
      </dgm:t>
    </dgm:pt>
    <dgm:pt modelId="{02F8E21E-2FB8-4563-BDC6-C6643BE3E2A2}" type="parTrans" cxnId="{6916B894-8B21-412D-BF69-C3A7F24C3E14}">
      <dgm:prSet/>
      <dgm:spPr/>
      <dgm:t>
        <a:bodyPr/>
        <a:lstStyle/>
        <a:p>
          <a:endParaRPr lang="en-US"/>
        </a:p>
      </dgm:t>
    </dgm:pt>
    <dgm:pt modelId="{9AF8B7F5-978E-4CFF-A72B-178597BFA879}" type="sibTrans" cxnId="{6916B894-8B21-412D-BF69-C3A7F24C3E14}">
      <dgm:prSet/>
      <dgm:spPr/>
      <dgm:t>
        <a:bodyPr/>
        <a:lstStyle/>
        <a:p>
          <a:endParaRPr lang="en-US"/>
        </a:p>
      </dgm:t>
    </dgm:pt>
    <dgm:pt modelId="{F8316CED-ECBA-4812-9AB3-1D44F8C3F7D0}">
      <dgm:prSet custT="1"/>
      <dgm:spPr/>
      <dgm:t>
        <a:bodyPr/>
        <a:lstStyle/>
        <a:p>
          <a:r>
            <a:rPr lang="en-US" sz="1800" dirty="0" err="1" smtClean="0"/>
            <a:t>Kalpna</a:t>
          </a:r>
          <a:r>
            <a:rPr lang="en-US" sz="1800" dirty="0" smtClean="0"/>
            <a:t> Reddy</a:t>
          </a:r>
          <a:endParaRPr lang="en-US" sz="1800" dirty="0"/>
        </a:p>
      </dgm:t>
    </dgm:pt>
    <dgm:pt modelId="{1E51F580-6F3D-443C-84DF-1FAA42B11045}" type="parTrans" cxnId="{D601590C-D219-43A3-87E0-2179AB2A6357}">
      <dgm:prSet/>
      <dgm:spPr/>
      <dgm:t>
        <a:bodyPr/>
        <a:lstStyle/>
        <a:p>
          <a:endParaRPr lang="en-US"/>
        </a:p>
      </dgm:t>
    </dgm:pt>
    <dgm:pt modelId="{2AEAA85A-AB50-4B1D-A403-BC4220B6D285}" type="sibTrans" cxnId="{D601590C-D219-43A3-87E0-2179AB2A6357}">
      <dgm:prSet/>
      <dgm:spPr/>
      <dgm:t>
        <a:bodyPr/>
        <a:lstStyle/>
        <a:p>
          <a:endParaRPr lang="en-US"/>
        </a:p>
      </dgm:t>
    </dgm:pt>
    <dgm:pt modelId="{35BC674F-8529-4B11-AD32-016084269D98}">
      <dgm:prSet custT="1"/>
      <dgm:spPr/>
      <dgm:t>
        <a:bodyPr/>
        <a:lstStyle/>
        <a:p>
          <a:r>
            <a:rPr lang="en-US" sz="1800" dirty="0" smtClean="0"/>
            <a:t>S </a:t>
          </a:r>
          <a:r>
            <a:rPr lang="en-US" sz="1800" dirty="0" err="1" smtClean="0"/>
            <a:t>Hussan</a:t>
          </a:r>
          <a:endParaRPr lang="en-US" sz="1800" dirty="0"/>
        </a:p>
      </dgm:t>
    </dgm:pt>
    <dgm:pt modelId="{0CD26290-335A-4AA2-8979-4376BDB06F7C}" type="parTrans" cxnId="{8F926F34-6394-42EF-A3AB-612C6A3C8B04}">
      <dgm:prSet/>
      <dgm:spPr/>
      <dgm:t>
        <a:bodyPr/>
        <a:lstStyle/>
        <a:p>
          <a:endParaRPr lang="en-US"/>
        </a:p>
      </dgm:t>
    </dgm:pt>
    <dgm:pt modelId="{6C424E07-5453-4CE6-888E-855EBFFD79BA}" type="sibTrans" cxnId="{8F926F34-6394-42EF-A3AB-612C6A3C8B04}">
      <dgm:prSet/>
      <dgm:spPr/>
      <dgm:t>
        <a:bodyPr/>
        <a:lstStyle/>
        <a:p>
          <a:endParaRPr lang="en-US"/>
        </a:p>
      </dgm:t>
    </dgm:pt>
    <dgm:pt modelId="{EB666398-343F-4A8A-B3B2-7F07603D04BB}" type="pres">
      <dgm:prSet presAssocID="{DE41D46A-FD8B-4263-A812-8A073ED3F9E6}" presName="linearFlow" presStyleCnt="0">
        <dgm:presLayoutVars>
          <dgm:dir/>
          <dgm:animLvl val="lvl"/>
          <dgm:resizeHandles val="exact"/>
        </dgm:presLayoutVars>
      </dgm:prSet>
      <dgm:spPr/>
    </dgm:pt>
    <dgm:pt modelId="{E45280AF-8691-441B-981B-2473BEAC7A85}" type="pres">
      <dgm:prSet presAssocID="{270B9AB0-B58F-468D-901B-32CB277DB044}" presName="composite" presStyleCnt="0"/>
      <dgm:spPr/>
    </dgm:pt>
    <dgm:pt modelId="{AD623EA0-3E18-4DB6-B399-2C85E6ADE2D1}" type="pres">
      <dgm:prSet presAssocID="{270B9AB0-B58F-468D-901B-32CB277DB044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A730AB-5CDE-4C53-BABF-1B8F68AA4244}" type="pres">
      <dgm:prSet presAssocID="{270B9AB0-B58F-468D-901B-32CB277DB044}" presName="descendantText" presStyleLbl="alignAcc1" presStyleIdx="0" presStyleCnt="3" custLinFactNeighborX="690" custLinFactNeighborY="-2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9B5740-9B63-4694-9B09-72B477FBEAC9}" type="pres">
      <dgm:prSet presAssocID="{13AF805B-1B60-461D-AED3-274CA13F0256}" presName="sp" presStyleCnt="0"/>
      <dgm:spPr/>
    </dgm:pt>
    <dgm:pt modelId="{A0E49EC4-8B91-4515-872E-572A03D22A8F}" type="pres">
      <dgm:prSet presAssocID="{01F4A108-434B-468D-8C54-A6EB640BC0B3}" presName="composite" presStyleCnt="0"/>
      <dgm:spPr/>
    </dgm:pt>
    <dgm:pt modelId="{3867FFEB-EFF4-44C5-8704-AE9AD33DB9B9}" type="pres">
      <dgm:prSet presAssocID="{01F4A108-434B-468D-8C54-A6EB640BC0B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F4FE9BA-E850-4C2D-8A62-3090E8F23304}" type="pres">
      <dgm:prSet presAssocID="{01F4A108-434B-468D-8C54-A6EB640BC0B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194617-B728-4A11-BDF5-7DFCE9534E2C}" type="pres">
      <dgm:prSet presAssocID="{72E6E9E8-A51B-408D-AC4E-072C32AD7252}" presName="sp" presStyleCnt="0"/>
      <dgm:spPr/>
    </dgm:pt>
    <dgm:pt modelId="{AC7FE6B5-5A07-4188-9FCE-7F5DDC02BA94}" type="pres">
      <dgm:prSet presAssocID="{A50FE432-C980-4760-9E53-16955A121107}" presName="composite" presStyleCnt="0"/>
      <dgm:spPr/>
    </dgm:pt>
    <dgm:pt modelId="{842E00B4-5231-40E6-9860-B1657C7E7E73}" type="pres">
      <dgm:prSet presAssocID="{A50FE432-C980-4760-9E53-16955A12110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ECBADDC-469B-4AD2-A3EF-8D243907C556}" type="pres">
      <dgm:prSet presAssocID="{A50FE432-C980-4760-9E53-16955A121107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12B3059-6D22-40C2-88A9-4B3BC9659869}" srcId="{DE41D46A-FD8B-4263-A812-8A073ED3F9E6}" destId="{01F4A108-434B-468D-8C54-A6EB640BC0B3}" srcOrd="1" destOrd="0" parTransId="{9F4AE950-1BD8-4FEB-BB68-879333D923D9}" sibTransId="{72E6E9E8-A51B-408D-AC4E-072C32AD7252}"/>
    <dgm:cxn modelId="{79E42B36-0222-42B1-9498-F94362A3A1D9}" type="presOf" srcId="{01F4A108-434B-468D-8C54-A6EB640BC0B3}" destId="{3867FFEB-EFF4-44C5-8704-AE9AD33DB9B9}" srcOrd="0" destOrd="0" presId="urn:microsoft.com/office/officeart/2005/8/layout/chevron2"/>
    <dgm:cxn modelId="{671AC8A4-CF3E-4633-BEE0-477AB7310F8F}" type="presOf" srcId="{DE41D46A-FD8B-4263-A812-8A073ED3F9E6}" destId="{EB666398-343F-4A8A-B3B2-7F07603D04BB}" srcOrd="0" destOrd="0" presId="urn:microsoft.com/office/officeart/2005/8/layout/chevron2"/>
    <dgm:cxn modelId="{6916B894-8B21-412D-BF69-C3A7F24C3E14}" srcId="{270B9AB0-B58F-468D-901B-32CB277DB044}" destId="{710AB4EB-F43B-41C6-8EEA-A607526A7DA6}" srcOrd="0" destOrd="0" parTransId="{02F8E21E-2FB8-4563-BDC6-C6643BE3E2A2}" sibTransId="{9AF8B7F5-978E-4CFF-A72B-178597BFA879}"/>
    <dgm:cxn modelId="{33D97016-34B9-4FD2-AD6C-DDCC49C94207}" type="presOf" srcId="{710AB4EB-F43B-41C6-8EEA-A607526A7DA6}" destId="{DFA730AB-5CDE-4C53-BABF-1B8F68AA4244}" srcOrd="0" destOrd="0" presId="urn:microsoft.com/office/officeart/2005/8/layout/chevron2"/>
    <dgm:cxn modelId="{9B13C3DC-72DF-4D84-A517-C789CD838558}" srcId="{DE41D46A-FD8B-4263-A812-8A073ED3F9E6}" destId="{270B9AB0-B58F-468D-901B-32CB277DB044}" srcOrd="0" destOrd="0" parTransId="{ED5EF70D-1F99-4C3A-995C-75E3F7A88F38}" sibTransId="{13AF805B-1B60-461D-AED3-274CA13F0256}"/>
    <dgm:cxn modelId="{032D0E95-DF1B-41EA-BF5F-ABEC2253A01A}" type="presOf" srcId="{35BC674F-8529-4B11-AD32-016084269D98}" destId="{0ECBADDC-469B-4AD2-A3EF-8D243907C556}" srcOrd="0" destOrd="0" presId="urn:microsoft.com/office/officeart/2005/8/layout/chevron2"/>
    <dgm:cxn modelId="{F885B18F-7808-4665-BCB7-FE1817F64D84}" type="presOf" srcId="{F8316CED-ECBA-4812-9AB3-1D44F8C3F7D0}" destId="{FF4FE9BA-E850-4C2D-8A62-3090E8F23304}" srcOrd="0" destOrd="0" presId="urn:microsoft.com/office/officeart/2005/8/layout/chevron2"/>
    <dgm:cxn modelId="{715CA874-4ED5-4AFA-BDAC-BF67D2018FE6}" type="presOf" srcId="{270B9AB0-B58F-468D-901B-32CB277DB044}" destId="{AD623EA0-3E18-4DB6-B399-2C85E6ADE2D1}" srcOrd="0" destOrd="0" presId="urn:microsoft.com/office/officeart/2005/8/layout/chevron2"/>
    <dgm:cxn modelId="{756B3E20-6CEC-4F5D-879C-CE53EE847161}" type="presOf" srcId="{A50FE432-C980-4760-9E53-16955A121107}" destId="{842E00B4-5231-40E6-9860-B1657C7E7E73}" srcOrd="0" destOrd="0" presId="urn:microsoft.com/office/officeart/2005/8/layout/chevron2"/>
    <dgm:cxn modelId="{D601590C-D219-43A3-87E0-2179AB2A6357}" srcId="{01F4A108-434B-468D-8C54-A6EB640BC0B3}" destId="{F8316CED-ECBA-4812-9AB3-1D44F8C3F7D0}" srcOrd="0" destOrd="0" parTransId="{1E51F580-6F3D-443C-84DF-1FAA42B11045}" sibTransId="{2AEAA85A-AB50-4B1D-A403-BC4220B6D285}"/>
    <dgm:cxn modelId="{8F926F34-6394-42EF-A3AB-612C6A3C8B04}" srcId="{A50FE432-C980-4760-9E53-16955A121107}" destId="{35BC674F-8529-4B11-AD32-016084269D98}" srcOrd="0" destOrd="0" parTransId="{0CD26290-335A-4AA2-8979-4376BDB06F7C}" sibTransId="{6C424E07-5453-4CE6-888E-855EBFFD79BA}"/>
    <dgm:cxn modelId="{2D4D466F-7FD7-43F7-8355-BB9648C56A46}" srcId="{DE41D46A-FD8B-4263-A812-8A073ED3F9E6}" destId="{A50FE432-C980-4760-9E53-16955A121107}" srcOrd="2" destOrd="0" parTransId="{E4CDC6BC-87E7-41DD-AAC1-9D8390733400}" sibTransId="{7E22E26F-F3E9-4C3A-844F-BBEA1C21CA08}"/>
    <dgm:cxn modelId="{BC83A7BB-40CA-47E5-8238-C4E50C2EED99}" type="presParOf" srcId="{EB666398-343F-4A8A-B3B2-7F07603D04BB}" destId="{E45280AF-8691-441B-981B-2473BEAC7A85}" srcOrd="0" destOrd="0" presId="urn:microsoft.com/office/officeart/2005/8/layout/chevron2"/>
    <dgm:cxn modelId="{03548D29-1F00-4540-B9E3-207EC8862EA2}" type="presParOf" srcId="{E45280AF-8691-441B-981B-2473BEAC7A85}" destId="{AD623EA0-3E18-4DB6-B399-2C85E6ADE2D1}" srcOrd="0" destOrd="0" presId="urn:microsoft.com/office/officeart/2005/8/layout/chevron2"/>
    <dgm:cxn modelId="{F9EA484F-43D6-4AAB-96FE-F594E223B602}" type="presParOf" srcId="{E45280AF-8691-441B-981B-2473BEAC7A85}" destId="{DFA730AB-5CDE-4C53-BABF-1B8F68AA4244}" srcOrd="1" destOrd="0" presId="urn:microsoft.com/office/officeart/2005/8/layout/chevron2"/>
    <dgm:cxn modelId="{A90EB335-7ED9-4BDC-8659-747BF5810B49}" type="presParOf" srcId="{EB666398-343F-4A8A-B3B2-7F07603D04BB}" destId="{3D9B5740-9B63-4694-9B09-72B477FBEAC9}" srcOrd="1" destOrd="0" presId="urn:microsoft.com/office/officeart/2005/8/layout/chevron2"/>
    <dgm:cxn modelId="{E2FACD4D-D832-45EF-BAB0-9F4800336E35}" type="presParOf" srcId="{EB666398-343F-4A8A-B3B2-7F07603D04BB}" destId="{A0E49EC4-8B91-4515-872E-572A03D22A8F}" srcOrd="2" destOrd="0" presId="urn:microsoft.com/office/officeart/2005/8/layout/chevron2"/>
    <dgm:cxn modelId="{48F4954F-1C8B-4085-ABEC-62974D99F93E}" type="presParOf" srcId="{A0E49EC4-8B91-4515-872E-572A03D22A8F}" destId="{3867FFEB-EFF4-44C5-8704-AE9AD33DB9B9}" srcOrd="0" destOrd="0" presId="urn:microsoft.com/office/officeart/2005/8/layout/chevron2"/>
    <dgm:cxn modelId="{DF2CA973-6781-4F03-A32A-2873FBE479A5}" type="presParOf" srcId="{A0E49EC4-8B91-4515-872E-572A03D22A8F}" destId="{FF4FE9BA-E850-4C2D-8A62-3090E8F23304}" srcOrd="1" destOrd="0" presId="urn:microsoft.com/office/officeart/2005/8/layout/chevron2"/>
    <dgm:cxn modelId="{321B1B7D-DA54-4D7C-9B17-0B5CC6919B84}" type="presParOf" srcId="{EB666398-343F-4A8A-B3B2-7F07603D04BB}" destId="{28194617-B728-4A11-BDF5-7DFCE9534E2C}" srcOrd="3" destOrd="0" presId="urn:microsoft.com/office/officeart/2005/8/layout/chevron2"/>
    <dgm:cxn modelId="{925099CA-BB16-4052-A362-99A96591216B}" type="presParOf" srcId="{EB666398-343F-4A8A-B3B2-7F07603D04BB}" destId="{AC7FE6B5-5A07-4188-9FCE-7F5DDC02BA94}" srcOrd="4" destOrd="0" presId="urn:microsoft.com/office/officeart/2005/8/layout/chevron2"/>
    <dgm:cxn modelId="{BEC662D8-B93A-4E85-ADAC-28393FD49B16}" type="presParOf" srcId="{AC7FE6B5-5A07-4188-9FCE-7F5DDC02BA94}" destId="{842E00B4-5231-40E6-9860-B1657C7E7E73}" srcOrd="0" destOrd="0" presId="urn:microsoft.com/office/officeart/2005/8/layout/chevron2"/>
    <dgm:cxn modelId="{341E037D-9F79-4D91-9A49-102EC77DB7F0}" type="presParOf" srcId="{AC7FE6B5-5A07-4188-9FCE-7F5DDC02BA94}" destId="{0ECBADDC-469B-4AD2-A3EF-8D243907C556}" srcOrd="1" destOrd="0" presId="urn:microsoft.com/office/officeart/2005/8/layout/chevron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C426AF-7299-4C1D-98EC-13D4025CDCCA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4BEAA3-5470-45DF-8071-8A8E0A0321A5}">
      <dgm:prSet/>
      <dgm:spPr/>
      <dgm:t>
        <a:bodyPr/>
        <a:lstStyle/>
        <a:p>
          <a:pPr rtl="0"/>
          <a:r>
            <a:rPr lang="en-US" dirty="0" smtClean="0"/>
            <a:t>This project demonstrates an end-to-end data analysis workflow, transforming </a:t>
          </a:r>
          <a:endParaRPr lang="en-US" dirty="0"/>
        </a:p>
      </dgm:t>
    </dgm:pt>
    <dgm:pt modelId="{1E17D958-4862-414F-A8F7-A1F51DAD1B2E}" type="parTrans" cxnId="{A966E8DE-80AA-4400-B83C-2552BB6E589E}">
      <dgm:prSet/>
      <dgm:spPr/>
      <dgm:t>
        <a:bodyPr/>
        <a:lstStyle/>
        <a:p>
          <a:endParaRPr lang="en-US"/>
        </a:p>
      </dgm:t>
    </dgm:pt>
    <dgm:pt modelId="{A0391717-BEE3-4853-A0D2-ABB6C8759BD5}" type="sibTrans" cxnId="{A966E8DE-80AA-4400-B83C-2552BB6E589E}">
      <dgm:prSet/>
      <dgm:spPr/>
      <dgm:t>
        <a:bodyPr/>
        <a:lstStyle/>
        <a:p>
          <a:endParaRPr lang="en-US"/>
        </a:p>
      </dgm:t>
    </dgm:pt>
    <dgm:pt modelId="{4BC1D399-A181-49D8-B4FE-7C7CBDE8FE82}">
      <dgm:prSet/>
      <dgm:spPr/>
      <dgm:t>
        <a:bodyPr/>
        <a:lstStyle/>
        <a:p>
          <a:pPr rtl="0"/>
          <a:r>
            <a:rPr lang="en-US" dirty="0" smtClean="0"/>
            <a:t>raw retail data into meaningful insights using Python, SQL, and Power BI.</a:t>
          </a:r>
          <a:endParaRPr lang="en-US" dirty="0"/>
        </a:p>
      </dgm:t>
    </dgm:pt>
    <dgm:pt modelId="{A39EE996-5E30-494A-BF55-FB6071C71C86}" type="parTrans" cxnId="{AD805A79-3B92-4E8A-BE32-A64B8DC93253}">
      <dgm:prSet/>
      <dgm:spPr/>
      <dgm:t>
        <a:bodyPr/>
        <a:lstStyle/>
        <a:p>
          <a:endParaRPr lang="en-US"/>
        </a:p>
      </dgm:t>
    </dgm:pt>
    <dgm:pt modelId="{EA8C7FF2-47E9-49DF-9F52-D648156880E9}" type="sibTrans" cxnId="{AD805A79-3B92-4E8A-BE32-A64B8DC93253}">
      <dgm:prSet/>
      <dgm:spPr/>
      <dgm:t>
        <a:bodyPr/>
        <a:lstStyle/>
        <a:p>
          <a:endParaRPr lang="en-US"/>
        </a:p>
      </dgm:t>
    </dgm:pt>
    <dgm:pt modelId="{772CF904-A67C-47E0-BAA1-1CFDD0BF4269}">
      <dgm:prSet/>
      <dgm:spPr/>
      <dgm:t>
        <a:bodyPr/>
        <a:lstStyle/>
        <a:p>
          <a:pPr rtl="0"/>
          <a:r>
            <a:rPr lang="en-US" dirty="0" smtClean="0"/>
            <a:t>The analysis highlights that sales performance is driven by a combination of </a:t>
          </a:r>
          <a:endParaRPr lang="en-US" dirty="0"/>
        </a:p>
      </dgm:t>
    </dgm:pt>
    <dgm:pt modelId="{5C0F6150-A003-4C04-96C3-7D934330FD81}" type="parTrans" cxnId="{0519720B-A1BC-4ADB-B532-9C0D247D52DE}">
      <dgm:prSet/>
      <dgm:spPr/>
      <dgm:t>
        <a:bodyPr/>
        <a:lstStyle/>
        <a:p>
          <a:endParaRPr lang="en-US"/>
        </a:p>
      </dgm:t>
    </dgm:pt>
    <dgm:pt modelId="{A4A6B8C1-46CE-4E48-8F68-F5DFE4017050}" type="sibTrans" cxnId="{0519720B-A1BC-4ADB-B532-9C0D247D52DE}">
      <dgm:prSet/>
      <dgm:spPr/>
      <dgm:t>
        <a:bodyPr/>
        <a:lstStyle/>
        <a:p>
          <a:endParaRPr lang="en-US"/>
        </a:p>
      </dgm:t>
    </dgm:pt>
    <dgm:pt modelId="{0A0BC005-04C3-4D3E-9931-7F93FBF1190C}">
      <dgm:prSet/>
      <dgm:spPr/>
      <dgm:t>
        <a:bodyPr/>
        <a:lstStyle/>
        <a:p>
          <a:pPr rtl="0"/>
          <a:r>
            <a:rPr lang="en-US" dirty="0" smtClean="0"/>
            <a:t>product demand, regional contribution, and customer purchasing behavior.</a:t>
          </a:r>
          <a:endParaRPr lang="en-US" dirty="0"/>
        </a:p>
      </dgm:t>
    </dgm:pt>
    <dgm:pt modelId="{B8EDB4A2-4082-457A-B367-179C6E8437B4}" type="parTrans" cxnId="{9AB7BFB4-E7B0-47C0-B9C4-B2F99AE27E83}">
      <dgm:prSet/>
      <dgm:spPr/>
      <dgm:t>
        <a:bodyPr/>
        <a:lstStyle/>
        <a:p>
          <a:endParaRPr lang="en-US"/>
        </a:p>
      </dgm:t>
    </dgm:pt>
    <dgm:pt modelId="{A5870CFE-A024-4C09-925D-220F0CCCDDD1}" type="sibTrans" cxnId="{9AB7BFB4-E7B0-47C0-B9C4-B2F99AE27E83}">
      <dgm:prSet/>
      <dgm:spPr/>
      <dgm:t>
        <a:bodyPr/>
        <a:lstStyle/>
        <a:p>
          <a:endParaRPr lang="en-US"/>
        </a:p>
      </dgm:t>
    </dgm:pt>
    <dgm:pt modelId="{9C0713C8-E000-432E-81B8-6D303CCB4A85}">
      <dgm:prSet/>
      <dgm:spPr/>
      <dgm:t>
        <a:bodyPr/>
        <a:lstStyle/>
        <a:p>
          <a:pPr rtl="0"/>
          <a:r>
            <a:rPr lang="en-US" dirty="0" smtClean="0"/>
            <a:t>Categories such as Electronics and Fashion play a major role in revenue </a:t>
          </a:r>
          <a:endParaRPr lang="en-US" dirty="0"/>
        </a:p>
      </dgm:t>
    </dgm:pt>
    <dgm:pt modelId="{EB798E5D-34A4-4AD5-95B4-F9187985C0BA}" type="parTrans" cxnId="{20692815-69F4-439F-B3FF-2D6F175BE1F3}">
      <dgm:prSet/>
      <dgm:spPr/>
      <dgm:t>
        <a:bodyPr/>
        <a:lstStyle/>
        <a:p>
          <a:endParaRPr lang="en-US"/>
        </a:p>
      </dgm:t>
    </dgm:pt>
    <dgm:pt modelId="{B7DC23FF-BDE4-4BE7-97C5-16AC2872AABB}" type="sibTrans" cxnId="{20692815-69F4-439F-B3FF-2D6F175BE1F3}">
      <dgm:prSet/>
      <dgm:spPr/>
      <dgm:t>
        <a:bodyPr/>
        <a:lstStyle/>
        <a:p>
          <a:endParaRPr lang="en-US"/>
        </a:p>
      </dgm:t>
    </dgm:pt>
    <dgm:pt modelId="{9AFA57B1-111D-4835-AEA8-40E7690AC6DD}">
      <dgm:prSet/>
      <dgm:spPr/>
    </dgm:pt>
    <dgm:pt modelId="{203A6E0E-F1E2-4166-92E7-1B2B791AF6FB}" type="parTrans" cxnId="{652A2696-686C-4E54-BBEA-AF9EB6B2E059}">
      <dgm:prSet/>
      <dgm:spPr/>
      <dgm:t>
        <a:bodyPr/>
        <a:lstStyle/>
        <a:p>
          <a:endParaRPr lang="en-US"/>
        </a:p>
      </dgm:t>
    </dgm:pt>
    <dgm:pt modelId="{5D967DF4-C1CF-4E21-A505-AC0C3F9E591E}" type="sibTrans" cxnId="{652A2696-686C-4E54-BBEA-AF9EB6B2E059}">
      <dgm:prSet/>
      <dgm:spPr/>
      <dgm:t>
        <a:bodyPr/>
        <a:lstStyle/>
        <a:p>
          <a:endParaRPr lang="en-US"/>
        </a:p>
      </dgm:t>
    </dgm:pt>
    <dgm:pt modelId="{59C1BFC3-B66F-4490-8BE7-099173E27333}">
      <dgm:prSet/>
      <dgm:spPr/>
    </dgm:pt>
    <dgm:pt modelId="{67277482-C1B2-4342-A43B-D4C983CF719E}" type="parTrans" cxnId="{8D25AE82-A6B3-43DB-A3FC-9621714F0BAE}">
      <dgm:prSet/>
      <dgm:spPr/>
      <dgm:t>
        <a:bodyPr/>
        <a:lstStyle/>
        <a:p>
          <a:endParaRPr lang="en-US"/>
        </a:p>
      </dgm:t>
    </dgm:pt>
    <dgm:pt modelId="{B1322FA0-A503-415D-99C9-A6F3C8E48BCB}" type="sibTrans" cxnId="{8D25AE82-A6B3-43DB-A3FC-9621714F0BAE}">
      <dgm:prSet/>
      <dgm:spPr/>
      <dgm:t>
        <a:bodyPr/>
        <a:lstStyle/>
        <a:p>
          <a:endParaRPr lang="en-US"/>
        </a:p>
      </dgm:t>
    </dgm:pt>
    <dgm:pt modelId="{AC40D60A-AB58-472A-B5DB-17B599608FEA}">
      <dgm:prSet/>
      <dgm:spPr/>
    </dgm:pt>
    <dgm:pt modelId="{452C15D2-B2D6-4DD4-974E-CA44E801B034}" type="parTrans" cxnId="{BF55A352-C740-474E-A1F3-C4C630D63078}">
      <dgm:prSet/>
      <dgm:spPr/>
      <dgm:t>
        <a:bodyPr/>
        <a:lstStyle/>
        <a:p>
          <a:endParaRPr lang="en-US"/>
        </a:p>
      </dgm:t>
    </dgm:pt>
    <dgm:pt modelId="{03B7DDDD-8BA4-4DD6-9E4C-7565C8AEF04A}" type="sibTrans" cxnId="{BF55A352-C740-474E-A1F3-C4C630D63078}">
      <dgm:prSet/>
      <dgm:spPr/>
      <dgm:t>
        <a:bodyPr/>
        <a:lstStyle/>
        <a:p>
          <a:endParaRPr lang="en-US"/>
        </a:p>
      </dgm:t>
    </dgm:pt>
    <dgm:pt modelId="{BB172904-1BC8-48EF-9128-0F1D3E8F9533}">
      <dgm:prSet/>
      <dgm:spPr/>
      <dgm:t>
        <a:bodyPr/>
        <a:lstStyle/>
        <a:p>
          <a:pPr rtl="0"/>
          <a:endParaRPr lang="en-US" dirty="0"/>
        </a:p>
      </dgm:t>
    </dgm:pt>
    <dgm:pt modelId="{3C4F2F0A-9644-41D0-AEF5-6144F42408E1}" type="parTrans" cxnId="{043D13DC-3C5E-47C4-A925-119E2A305BB8}">
      <dgm:prSet/>
      <dgm:spPr/>
      <dgm:t>
        <a:bodyPr/>
        <a:lstStyle/>
        <a:p>
          <a:endParaRPr lang="en-US"/>
        </a:p>
      </dgm:t>
    </dgm:pt>
    <dgm:pt modelId="{CECBCA22-FCBF-4F3C-9649-2D3BCCC25473}" type="sibTrans" cxnId="{043D13DC-3C5E-47C4-A925-119E2A305BB8}">
      <dgm:prSet/>
      <dgm:spPr/>
      <dgm:t>
        <a:bodyPr/>
        <a:lstStyle/>
        <a:p>
          <a:endParaRPr lang="en-US"/>
        </a:p>
      </dgm:t>
    </dgm:pt>
    <dgm:pt modelId="{E8BF3D67-3C9B-40D1-B552-7CA9C4E7C2D1}" type="pres">
      <dgm:prSet presAssocID="{34C426AF-7299-4C1D-98EC-13D4025CDCCA}" presName="composite" presStyleCnt="0">
        <dgm:presLayoutVars>
          <dgm:chMax val="5"/>
          <dgm:dir/>
          <dgm:resizeHandles val="exact"/>
        </dgm:presLayoutVars>
      </dgm:prSet>
      <dgm:spPr/>
    </dgm:pt>
    <dgm:pt modelId="{28734D72-2084-4E0A-BD57-8C73F3884B67}" type="pres">
      <dgm:prSet presAssocID="{5C4BEAA3-5470-45DF-8071-8A8E0A0321A5}" presName="circle1" presStyleLbl="lnNode1" presStyleIdx="0" presStyleCnt="5"/>
      <dgm:spPr/>
    </dgm:pt>
    <dgm:pt modelId="{4ED86D84-71D8-4482-A584-B9EC95E73BAE}" type="pres">
      <dgm:prSet presAssocID="{5C4BEAA3-5470-45DF-8071-8A8E0A0321A5}" presName="text1" presStyleLbl="revTx" presStyleIdx="0" presStyleCnt="5">
        <dgm:presLayoutVars>
          <dgm:bulletEnabled val="1"/>
        </dgm:presLayoutVars>
      </dgm:prSet>
      <dgm:spPr/>
    </dgm:pt>
    <dgm:pt modelId="{E530B343-6833-404B-8ADB-6F22DA805121}" type="pres">
      <dgm:prSet presAssocID="{5C4BEAA3-5470-45DF-8071-8A8E0A0321A5}" presName="line1" presStyleLbl="callout" presStyleIdx="0" presStyleCnt="10"/>
      <dgm:spPr/>
    </dgm:pt>
    <dgm:pt modelId="{6028AFA0-C664-4008-898C-60E76F8E17C6}" type="pres">
      <dgm:prSet presAssocID="{5C4BEAA3-5470-45DF-8071-8A8E0A0321A5}" presName="d1" presStyleLbl="callout" presStyleIdx="1" presStyleCnt="10"/>
      <dgm:spPr/>
    </dgm:pt>
    <dgm:pt modelId="{3E5AA6CF-D742-45B3-9D22-E60059101C4B}" type="pres">
      <dgm:prSet presAssocID="{4BC1D399-A181-49D8-B4FE-7C7CBDE8FE82}" presName="circle2" presStyleLbl="lnNode1" presStyleIdx="1" presStyleCnt="5"/>
      <dgm:spPr/>
    </dgm:pt>
    <dgm:pt modelId="{37B87F71-A131-4B7C-AA3B-8D84914089F7}" type="pres">
      <dgm:prSet presAssocID="{4BC1D399-A181-49D8-B4FE-7C7CBDE8FE82}" presName="text2" presStyleLbl="revTx" presStyleIdx="1" presStyleCnt="5">
        <dgm:presLayoutVars>
          <dgm:bulletEnabled val="1"/>
        </dgm:presLayoutVars>
      </dgm:prSet>
      <dgm:spPr/>
    </dgm:pt>
    <dgm:pt modelId="{1F52F2A1-FD8A-4F9F-B4A5-2AC192BF46A5}" type="pres">
      <dgm:prSet presAssocID="{4BC1D399-A181-49D8-B4FE-7C7CBDE8FE82}" presName="line2" presStyleLbl="callout" presStyleIdx="2" presStyleCnt="10"/>
      <dgm:spPr/>
    </dgm:pt>
    <dgm:pt modelId="{A43B5EEF-F498-462B-83A0-616B96831538}" type="pres">
      <dgm:prSet presAssocID="{4BC1D399-A181-49D8-B4FE-7C7CBDE8FE82}" presName="d2" presStyleLbl="callout" presStyleIdx="3" presStyleCnt="10"/>
      <dgm:spPr/>
    </dgm:pt>
    <dgm:pt modelId="{DFD0B1ED-74B6-4CEF-BD8C-880922AB01EA}" type="pres">
      <dgm:prSet presAssocID="{772CF904-A67C-47E0-BAA1-1CFDD0BF4269}" presName="circle3" presStyleLbl="lnNode1" presStyleIdx="2" presStyleCnt="5"/>
      <dgm:spPr/>
    </dgm:pt>
    <dgm:pt modelId="{E7B1DF6F-7137-406F-A4B7-3474B37E42E2}" type="pres">
      <dgm:prSet presAssocID="{772CF904-A67C-47E0-BAA1-1CFDD0BF4269}" presName="text3" presStyleLbl="revTx" presStyleIdx="2" presStyleCnt="5">
        <dgm:presLayoutVars>
          <dgm:bulletEnabled val="1"/>
        </dgm:presLayoutVars>
      </dgm:prSet>
      <dgm:spPr/>
    </dgm:pt>
    <dgm:pt modelId="{58FD57F9-B9A5-42DF-84AB-9CE1F3FB9AB9}" type="pres">
      <dgm:prSet presAssocID="{772CF904-A67C-47E0-BAA1-1CFDD0BF4269}" presName="line3" presStyleLbl="callout" presStyleIdx="4" presStyleCnt="10"/>
      <dgm:spPr/>
    </dgm:pt>
    <dgm:pt modelId="{00E0C044-CD5D-49F7-8C31-8B8E391F5A2F}" type="pres">
      <dgm:prSet presAssocID="{772CF904-A67C-47E0-BAA1-1CFDD0BF4269}" presName="d3" presStyleLbl="callout" presStyleIdx="5" presStyleCnt="10"/>
      <dgm:spPr/>
    </dgm:pt>
    <dgm:pt modelId="{984298B8-2C02-43CE-B0EF-65E4B7E9F6CF}" type="pres">
      <dgm:prSet presAssocID="{0A0BC005-04C3-4D3E-9931-7F93FBF1190C}" presName="circle4" presStyleLbl="lnNode1" presStyleIdx="3" presStyleCnt="5"/>
      <dgm:spPr/>
    </dgm:pt>
    <dgm:pt modelId="{9E1E1D29-F7B2-4526-8FFE-AE7B8015682B}" type="pres">
      <dgm:prSet presAssocID="{0A0BC005-04C3-4D3E-9931-7F93FBF1190C}" presName="text4" presStyleLbl="revTx" presStyleIdx="3" presStyleCnt="5">
        <dgm:presLayoutVars>
          <dgm:bulletEnabled val="1"/>
        </dgm:presLayoutVars>
      </dgm:prSet>
      <dgm:spPr/>
    </dgm:pt>
    <dgm:pt modelId="{F8289D8F-93C2-44C8-AB2A-A987A3B5C638}" type="pres">
      <dgm:prSet presAssocID="{0A0BC005-04C3-4D3E-9931-7F93FBF1190C}" presName="line4" presStyleLbl="callout" presStyleIdx="6" presStyleCnt="10"/>
      <dgm:spPr/>
    </dgm:pt>
    <dgm:pt modelId="{79125100-8CA6-4B68-A4E7-B2001F4F72B4}" type="pres">
      <dgm:prSet presAssocID="{0A0BC005-04C3-4D3E-9931-7F93FBF1190C}" presName="d4" presStyleLbl="callout" presStyleIdx="7" presStyleCnt="10"/>
      <dgm:spPr/>
    </dgm:pt>
    <dgm:pt modelId="{58C797C9-9CB7-42D4-A861-394C71396201}" type="pres">
      <dgm:prSet presAssocID="{9C0713C8-E000-432E-81B8-6D303CCB4A85}" presName="circle5" presStyleLbl="lnNode1" presStyleIdx="4" presStyleCnt="5"/>
      <dgm:spPr/>
    </dgm:pt>
    <dgm:pt modelId="{8FD93BFA-90D6-486B-A76F-8D0B778ED216}" type="pres">
      <dgm:prSet presAssocID="{9C0713C8-E000-432E-81B8-6D303CCB4A85}" presName="text5" presStyleLbl="revTx" presStyleIdx="4" presStyleCnt="5">
        <dgm:presLayoutVars>
          <dgm:bulletEnabled val="1"/>
        </dgm:presLayoutVars>
      </dgm:prSet>
      <dgm:spPr/>
    </dgm:pt>
    <dgm:pt modelId="{969F8F83-E053-4927-83F9-CD80B6D38A4A}" type="pres">
      <dgm:prSet presAssocID="{9C0713C8-E000-432E-81B8-6D303CCB4A85}" presName="line5" presStyleLbl="callout" presStyleIdx="8" presStyleCnt="10"/>
      <dgm:spPr/>
    </dgm:pt>
    <dgm:pt modelId="{DBB43612-A9CA-476F-9FFF-178496F3A1C7}" type="pres">
      <dgm:prSet presAssocID="{9C0713C8-E000-432E-81B8-6D303CCB4A85}" presName="d5" presStyleLbl="callout" presStyleIdx="9" presStyleCnt="10"/>
      <dgm:spPr/>
    </dgm:pt>
  </dgm:ptLst>
  <dgm:cxnLst>
    <dgm:cxn modelId="{0519720B-A1BC-4ADB-B532-9C0D247D52DE}" srcId="{34C426AF-7299-4C1D-98EC-13D4025CDCCA}" destId="{772CF904-A67C-47E0-BAA1-1CFDD0BF4269}" srcOrd="2" destOrd="0" parTransId="{5C0F6150-A003-4C04-96C3-7D934330FD81}" sibTransId="{A4A6B8C1-46CE-4E48-8F68-F5DFE4017050}"/>
    <dgm:cxn modelId="{A883DF16-5BF5-4862-BCBD-5D316D8C168C}" type="presOf" srcId="{5C4BEAA3-5470-45DF-8071-8A8E0A0321A5}" destId="{4ED86D84-71D8-4482-A584-B9EC95E73BAE}" srcOrd="0" destOrd="0" presId="urn:microsoft.com/office/officeart/2005/8/layout/target1"/>
    <dgm:cxn modelId="{DC70A9A0-6D9A-4FB0-B3FA-648A8CDD8675}" type="presOf" srcId="{0A0BC005-04C3-4D3E-9931-7F93FBF1190C}" destId="{9E1E1D29-F7B2-4526-8FFE-AE7B8015682B}" srcOrd="0" destOrd="0" presId="urn:microsoft.com/office/officeart/2005/8/layout/target1"/>
    <dgm:cxn modelId="{043D13DC-3C5E-47C4-A925-119E2A305BB8}" srcId="{34C426AF-7299-4C1D-98EC-13D4025CDCCA}" destId="{BB172904-1BC8-48EF-9128-0F1D3E8F9533}" srcOrd="8" destOrd="0" parTransId="{3C4F2F0A-9644-41D0-AEF5-6144F42408E1}" sibTransId="{CECBCA22-FCBF-4F3C-9649-2D3BCCC25473}"/>
    <dgm:cxn modelId="{FEA87B3C-07E4-438D-B2DD-B8AD6AA4A472}" type="presOf" srcId="{34C426AF-7299-4C1D-98EC-13D4025CDCCA}" destId="{E8BF3D67-3C9B-40D1-B552-7CA9C4E7C2D1}" srcOrd="0" destOrd="0" presId="urn:microsoft.com/office/officeart/2005/8/layout/target1"/>
    <dgm:cxn modelId="{9AB7BFB4-E7B0-47C0-B9C4-B2F99AE27E83}" srcId="{34C426AF-7299-4C1D-98EC-13D4025CDCCA}" destId="{0A0BC005-04C3-4D3E-9931-7F93FBF1190C}" srcOrd="3" destOrd="0" parTransId="{B8EDB4A2-4082-457A-B367-179C6E8437B4}" sibTransId="{A5870CFE-A024-4C09-925D-220F0CCCDDD1}"/>
    <dgm:cxn modelId="{AD805A79-3B92-4E8A-BE32-A64B8DC93253}" srcId="{34C426AF-7299-4C1D-98EC-13D4025CDCCA}" destId="{4BC1D399-A181-49D8-B4FE-7C7CBDE8FE82}" srcOrd="1" destOrd="0" parTransId="{A39EE996-5E30-494A-BF55-FB6071C71C86}" sibTransId="{EA8C7FF2-47E9-49DF-9F52-D648156880E9}"/>
    <dgm:cxn modelId="{BF55A352-C740-474E-A1F3-C4C630D63078}" srcId="{34C426AF-7299-4C1D-98EC-13D4025CDCCA}" destId="{AC40D60A-AB58-472A-B5DB-17B599608FEA}" srcOrd="7" destOrd="0" parTransId="{452C15D2-B2D6-4DD4-974E-CA44E801B034}" sibTransId="{03B7DDDD-8BA4-4DD6-9E4C-7565C8AEF04A}"/>
    <dgm:cxn modelId="{F5BC4783-92E7-4CB3-8B1A-B440D0D96BE7}" type="presOf" srcId="{9C0713C8-E000-432E-81B8-6D303CCB4A85}" destId="{8FD93BFA-90D6-486B-A76F-8D0B778ED216}" srcOrd="0" destOrd="0" presId="urn:microsoft.com/office/officeart/2005/8/layout/target1"/>
    <dgm:cxn modelId="{A966E8DE-80AA-4400-B83C-2552BB6E589E}" srcId="{34C426AF-7299-4C1D-98EC-13D4025CDCCA}" destId="{5C4BEAA3-5470-45DF-8071-8A8E0A0321A5}" srcOrd="0" destOrd="0" parTransId="{1E17D958-4862-414F-A8F7-A1F51DAD1B2E}" sibTransId="{A0391717-BEE3-4853-A0D2-ABB6C8759BD5}"/>
    <dgm:cxn modelId="{652A2696-686C-4E54-BBEA-AF9EB6B2E059}" srcId="{34C426AF-7299-4C1D-98EC-13D4025CDCCA}" destId="{9AFA57B1-111D-4835-AEA8-40E7690AC6DD}" srcOrd="5" destOrd="0" parTransId="{203A6E0E-F1E2-4166-92E7-1B2B791AF6FB}" sibTransId="{5D967DF4-C1CF-4E21-A505-AC0C3F9E591E}"/>
    <dgm:cxn modelId="{20692815-69F4-439F-B3FF-2D6F175BE1F3}" srcId="{34C426AF-7299-4C1D-98EC-13D4025CDCCA}" destId="{9C0713C8-E000-432E-81B8-6D303CCB4A85}" srcOrd="4" destOrd="0" parTransId="{EB798E5D-34A4-4AD5-95B4-F9187985C0BA}" sibTransId="{B7DC23FF-BDE4-4BE7-97C5-16AC2872AABB}"/>
    <dgm:cxn modelId="{59F75B90-E6FC-4DE9-9721-2FFC76718C58}" type="presOf" srcId="{772CF904-A67C-47E0-BAA1-1CFDD0BF4269}" destId="{E7B1DF6F-7137-406F-A4B7-3474B37E42E2}" srcOrd="0" destOrd="0" presId="urn:microsoft.com/office/officeart/2005/8/layout/target1"/>
    <dgm:cxn modelId="{9C8D907A-677C-4E33-A70F-D4E914CF8AA0}" type="presOf" srcId="{4BC1D399-A181-49D8-B4FE-7C7CBDE8FE82}" destId="{37B87F71-A131-4B7C-AA3B-8D84914089F7}" srcOrd="0" destOrd="0" presId="urn:microsoft.com/office/officeart/2005/8/layout/target1"/>
    <dgm:cxn modelId="{8D25AE82-A6B3-43DB-A3FC-9621714F0BAE}" srcId="{34C426AF-7299-4C1D-98EC-13D4025CDCCA}" destId="{59C1BFC3-B66F-4490-8BE7-099173E27333}" srcOrd="6" destOrd="0" parTransId="{67277482-C1B2-4342-A43B-D4C983CF719E}" sibTransId="{B1322FA0-A503-415D-99C9-A6F3C8E48BCB}"/>
    <dgm:cxn modelId="{9CF4A730-A367-4D17-B04F-44765BDD3526}" type="presParOf" srcId="{E8BF3D67-3C9B-40D1-B552-7CA9C4E7C2D1}" destId="{28734D72-2084-4E0A-BD57-8C73F3884B67}" srcOrd="0" destOrd="0" presId="urn:microsoft.com/office/officeart/2005/8/layout/target1"/>
    <dgm:cxn modelId="{5681C245-3E16-4945-B079-B7D57589BE65}" type="presParOf" srcId="{E8BF3D67-3C9B-40D1-B552-7CA9C4E7C2D1}" destId="{4ED86D84-71D8-4482-A584-B9EC95E73BAE}" srcOrd="1" destOrd="0" presId="urn:microsoft.com/office/officeart/2005/8/layout/target1"/>
    <dgm:cxn modelId="{9A9DB92F-37D8-4C33-93F7-CD05A9B60A83}" type="presParOf" srcId="{E8BF3D67-3C9B-40D1-B552-7CA9C4E7C2D1}" destId="{E530B343-6833-404B-8ADB-6F22DA805121}" srcOrd="2" destOrd="0" presId="urn:microsoft.com/office/officeart/2005/8/layout/target1"/>
    <dgm:cxn modelId="{3141EB60-55B9-4727-9114-89A076B654F0}" type="presParOf" srcId="{E8BF3D67-3C9B-40D1-B552-7CA9C4E7C2D1}" destId="{6028AFA0-C664-4008-898C-60E76F8E17C6}" srcOrd="3" destOrd="0" presId="urn:microsoft.com/office/officeart/2005/8/layout/target1"/>
    <dgm:cxn modelId="{F817BD25-1085-4012-84BB-AE87355FB023}" type="presParOf" srcId="{E8BF3D67-3C9B-40D1-B552-7CA9C4E7C2D1}" destId="{3E5AA6CF-D742-45B3-9D22-E60059101C4B}" srcOrd="4" destOrd="0" presId="urn:microsoft.com/office/officeart/2005/8/layout/target1"/>
    <dgm:cxn modelId="{ADF105AA-3B3D-423B-98F5-0DDEAB622FE5}" type="presParOf" srcId="{E8BF3D67-3C9B-40D1-B552-7CA9C4E7C2D1}" destId="{37B87F71-A131-4B7C-AA3B-8D84914089F7}" srcOrd="5" destOrd="0" presId="urn:microsoft.com/office/officeart/2005/8/layout/target1"/>
    <dgm:cxn modelId="{EBD2EB24-4A82-4546-9656-D4FB30F50323}" type="presParOf" srcId="{E8BF3D67-3C9B-40D1-B552-7CA9C4E7C2D1}" destId="{1F52F2A1-FD8A-4F9F-B4A5-2AC192BF46A5}" srcOrd="6" destOrd="0" presId="urn:microsoft.com/office/officeart/2005/8/layout/target1"/>
    <dgm:cxn modelId="{2D2C51E5-A4CA-4F0D-9D38-55CB50740581}" type="presParOf" srcId="{E8BF3D67-3C9B-40D1-B552-7CA9C4E7C2D1}" destId="{A43B5EEF-F498-462B-83A0-616B96831538}" srcOrd="7" destOrd="0" presId="urn:microsoft.com/office/officeart/2005/8/layout/target1"/>
    <dgm:cxn modelId="{9D322DF2-52F0-4C67-9D68-6B66DF88FE4F}" type="presParOf" srcId="{E8BF3D67-3C9B-40D1-B552-7CA9C4E7C2D1}" destId="{DFD0B1ED-74B6-4CEF-BD8C-880922AB01EA}" srcOrd="8" destOrd="0" presId="urn:microsoft.com/office/officeart/2005/8/layout/target1"/>
    <dgm:cxn modelId="{4D8E7224-FA85-49A6-B186-2AF15A0D66CB}" type="presParOf" srcId="{E8BF3D67-3C9B-40D1-B552-7CA9C4E7C2D1}" destId="{E7B1DF6F-7137-406F-A4B7-3474B37E42E2}" srcOrd="9" destOrd="0" presId="urn:microsoft.com/office/officeart/2005/8/layout/target1"/>
    <dgm:cxn modelId="{19EF13DC-E69A-43E8-9F7B-01F4E9055630}" type="presParOf" srcId="{E8BF3D67-3C9B-40D1-B552-7CA9C4E7C2D1}" destId="{58FD57F9-B9A5-42DF-84AB-9CE1F3FB9AB9}" srcOrd="10" destOrd="0" presId="urn:microsoft.com/office/officeart/2005/8/layout/target1"/>
    <dgm:cxn modelId="{B758462F-EB2E-43F8-BC4D-67E91D0756D4}" type="presParOf" srcId="{E8BF3D67-3C9B-40D1-B552-7CA9C4E7C2D1}" destId="{00E0C044-CD5D-49F7-8C31-8B8E391F5A2F}" srcOrd="11" destOrd="0" presId="urn:microsoft.com/office/officeart/2005/8/layout/target1"/>
    <dgm:cxn modelId="{4FFBFBF5-135C-4AB9-9B35-9731B1E69DEA}" type="presParOf" srcId="{E8BF3D67-3C9B-40D1-B552-7CA9C4E7C2D1}" destId="{984298B8-2C02-43CE-B0EF-65E4B7E9F6CF}" srcOrd="12" destOrd="0" presId="urn:microsoft.com/office/officeart/2005/8/layout/target1"/>
    <dgm:cxn modelId="{1224E24A-5F8F-4E0F-A3D1-E1D485A7740F}" type="presParOf" srcId="{E8BF3D67-3C9B-40D1-B552-7CA9C4E7C2D1}" destId="{9E1E1D29-F7B2-4526-8FFE-AE7B8015682B}" srcOrd="13" destOrd="0" presId="urn:microsoft.com/office/officeart/2005/8/layout/target1"/>
    <dgm:cxn modelId="{3810DB70-83E3-413D-92A2-04F0A91C453F}" type="presParOf" srcId="{E8BF3D67-3C9B-40D1-B552-7CA9C4E7C2D1}" destId="{F8289D8F-93C2-44C8-AB2A-A987A3B5C638}" srcOrd="14" destOrd="0" presId="urn:microsoft.com/office/officeart/2005/8/layout/target1"/>
    <dgm:cxn modelId="{CE18F082-7699-47DC-BE85-DEC87BBEE7BE}" type="presParOf" srcId="{E8BF3D67-3C9B-40D1-B552-7CA9C4E7C2D1}" destId="{79125100-8CA6-4B68-A4E7-B2001F4F72B4}" srcOrd="15" destOrd="0" presId="urn:microsoft.com/office/officeart/2005/8/layout/target1"/>
    <dgm:cxn modelId="{C2C82075-BDBD-4883-8CAE-B92E3DB5A4A9}" type="presParOf" srcId="{E8BF3D67-3C9B-40D1-B552-7CA9C4E7C2D1}" destId="{58C797C9-9CB7-42D4-A861-394C71396201}" srcOrd="16" destOrd="0" presId="urn:microsoft.com/office/officeart/2005/8/layout/target1"/>
    <dgm:cxn modelId="{FD50AC8C-6D40-4251-A334-77F3D67E52FB}" type="presParOf" srcId="{E8BF3D67-3C9B-40D1-B552-7CA9C4E7C2D1}" destId="{8FD93BFA-90D6-486B-A76F-8D0B778ED216}" srcOrd="17" destOrd="0" presId="urn:microsoft.com/office/officeart/2005/8/layout/target1"/>
    <dgm:cxn modelId="{7BF96828-DB29-4736-81B1-34F2B8B578B9}" type="presParOf" srcId="{E8BF3D67-3C9B-40D1-B552-7CA9C4E7C2D1}" destId="{969F8F83-E053-4927-83F9-CD80B6D38A4A}" srcOrd="18" destOrd="0" presId="urn:microsoft.com/office/officeart/2005/8/layout/target1"/>
    <dgm:cxn modelId="{FD1BA462-2DEB-4EC1-AA75-7B0770B2E047}" type="presParOf" srcId="{E8BF3D67-3C9B-40D1-B552-7CA9C4E7C2D1}" destId="{DBB43612-A9CA-476F-9FFF-178496F3A1C7}" srcOrd="19" destOrd="0" presId="urn:microsoft.com/office/officeart/2005/8/layout/targe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779404"/>
            <a:ext cx="8214830" cy="167975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1971" y="3640685"/>
            <a:ext cx="8214829" cy="610820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86617" cy="1095012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0110"/>
            <a:ext cx="8286617" cy="337529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47" y="128470"/>
            <a:ext cx="5931358" cy="1012017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947" y="1248108"/>
            <a:ext cx="5931358" cy="341019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880" y="215608"/>
            <a:ext cx="8075311" cy="871876"/>
          </a:xfrm>
        </p:spPr>
        <p:txBody>
          <a:bodyPr>
            <a:normAutofit/>
          </a:bodyPr>
          <a:lstStyle>
            <a:lvl1pPr algn="l">
              <a:defRPr sz="3600" u="none" baseline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9" y="1502816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2071459"/>
            <a:ext cx="4035120" cy="2427818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5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2071458"/>
            <a:ext cx="4041775" cy="2427819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xmlns="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-2-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85867"/>
            <a:ext cx="5472122" cy="1785950"/>
          </a:xfrm>
        </p:spPr>
        <p:txBody>
          <a:bodyPr>
            <a:normAutofit/>
          </a:bodyPr>
          <a:lstStyle/>
          <a:p>
            <a:r>
              <a:rPr lang="en-US" dirty="0" smtClean="0"/>
              <a:t>SUPERSTORE</a:t>
            </a:r>
            <a:br>
              <a:rPr lang="en-US" dirty="0" smtClean="0"/>
            </a:br>
            <a:r>
              <a:rPr lang="en-US" dirty="0" smtClean="0"/>
              <a:t>Data (Retail Sales and Inventory 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4348" y="3214692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Final Internship Report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Team Member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0111"/>
            <a:ext cx="8286617" cy="1507392"/>
          </a:xfrm>
        </p:spPr>
        <p:txBody>
          <a:bodyPr/>
          <a:lstStyle/>
          <a:p>
            <a:pPr>
              <a:buNone/>
            </a:pPr>
            <a:r>
              <a:rPr lang="en-US" sz="1400" dirty="0" smtClean="0"/>
              <a:t>Our team combine creativity , strategy, and precision to bring bold vision for this project . From concept to runway , each member plays a vital role in improving the project superstore sales and inventory Analysis.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928662" y="2071684"/>
          <a:ext cx="3357586" cy="2143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Of 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Project Overview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Objective &amp; Goals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Tool &amp; Technology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Data Preparation &amp; Querying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Power Bi Dashboard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Screenshot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684" y="67461"/>
            <a:ext cx="5931358" cy="1012017"/>
          </a:xfrm>
        </p:spPr>
        <p:txBody>
          <a:bodyPr>
            <a:normAutofit/>
          </a:bodyPr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0298" y="2453679"/>
            <a:ext cx="198433" cy="19843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880594" y="2428874"/>
            <a:ext cx="254588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Strategic Decision-Making</a:t>
            </a:r>
            <a:endParaRPr lang="en-US" sz="1550" dirty="0"/>
          </a:p>
        </p:txBody>
      </p:sp>
      <p:sp>
        <p:nvSpPr>
          <p:cNvPr id="12" name="Text 5"/>
          <p:cNvSpPr/>
          <p:nvPr/>
        </p:nvSpPr>
        <p:spPr>
          <a:xfrm>
            <a:off x="2880594" y="2732484"/>
            <a:ext cx="311578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interpretable dashboards and business recommendations to drive smarter decisions around products, regions, and customers.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4810" y="3610385"/>
            <a:ext cx="198433" cy="1984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95106" y="3585580"/>
            <a:ext cx="260720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Multi-Dimensional Analysis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4595106" y="3889190"/>
            <a:ext cx="311588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Uncovers patterns in sales trends, product performance, geographic distribution, and customer purchasing behavior.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919" y="1310671"/>
            <a:ext cx="198433" cy="198438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634215" y="1285866"/>
            <a:ext cx="209485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End-to-End Workflow</a:t>
            </a:r>
            <a:endParaRPr lang="en-US" sz="1550" dirty="0"/>
          </a:p>
        </p:txBody>
      </p:sp>
      <p:sp>
        <p:nvSpPr>
          <p:cNvPr id="18" name="Text 3"/>
          <p:cNvSpPr/>
          <p:nvPr/>
        </p:nvSpPr>
        <p:spPr>
          <a:xfrm>
            <a:off x="634215" y="1589476"/>
            <a:ext cx="311578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Transforms raw retail data into actionable insights through data cleaning in Python, querying in SQL, and visualization in Power BI.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8684" y="67461"/>
            <a:ext cx="5931358" cy="1012017"/>
          </a:xfrm>
        </p:spPr>
        <p:txBody>
          <a:bodyPr>
            <a:normAutofit/>
          </a:bodyPr>
          <a:lstStyle/>
          <a:p>
            <a:r>
              <a:rPr lang="en-US" dirty="0" smtClean="0"/>
              <a:t>Objective &amp; Goals</a:t>
            </a:r>
            <a:endParaRPr lang="en-US" dirty="0"/>
          </a:p>
        </p:txBody>
      </p:sp>
      <p:pic>
        <p:nvPicPr>
          <p:cNvPr id="19" name="Picture 18" descr="Screenshot 2026-06-12 113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676"/>
            <a:ext cx="9144000" cy="42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Tool &amp; </a:t>
            </a: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Technologices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14283" y="1357304"/>
            <a:ext cx="8001056" cy="3357586"/>
            <a:chOff x="61435" y="1142990"/>
            <a:chExt cx="10868547" cy="384304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35" y="1142990"/>
              <a:ext cx="5434273" cy="71824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240917" y="2031792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Python (Pandas)</a:t>
              </a:r>
              <a:endParaRPr lang="en-US" sz="17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240917" y="2414578"/>
              <a:ext cx="5075309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Data cleaning and preprocessing — handling missing values, removing duplicates, and standardizing formats.</a:t>
              </a:r>
              <a:endParaRPr lang="en-US" sz="1400" dirty="0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5709" y="1142990"/>
              <a:ext cx="5434273" cy="718245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5675191" y="2031792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SQL (MySQL)</a:t>
              </a:r>
              <a:endParaRPr lang="en-US" sz="17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5675191" y="2414578"/>
              <a:ext cx="5075309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Data analysis using GROUP BY, ORDER BY, and aggregate functions like SUM, AVG, and COUNT.</a:t>
              </a:r>
              <a:endParaRPr lang="en-US" sz="1400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35" y="3154254"/>
              <a:ext cx="5434273" cy="718245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240917" y="4043055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Power BI</a:t>
              </a:r>
              <a:endParaRPr lang="en-US" sz="17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240917" y="4425841"/>
              <a:ext cx="5075309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Interactive dashboard creation for visualizing revenue, product performance, and sales trends.</a:t>
              </a:r>
              <a:endParaRPr lang="en-US" sz="1400" dirty="0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5709" y="3154254"/>
              <a:ext cx="5434273" cy="718245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5675191" y="4043055"/>
              <a:ext cx="2244570" cy="280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7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Git &amp; GitHub</a:t>
              </a:r>
              <a:endParaRPr lang="en-US" sz="1750" dirty="0"/>
            </a:p>
          </p:txBody>
        </p:sp>
        <p:sp>
          <p:nvSpPr>
            <p:cNvPr id="16" name="Text 10"/>
            <p:cNvSpPr/>
            <p:nvPr/>
          </p:nvSpPr>
          <p:spPr>
            <a:xfrm>
              <a:off x="5675191" y="4425841"/>
              <a:ext cx="5075309" cy="5601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14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Version control for tracking changes, collaborating, and maintaining a clean project history.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Preparation &amp; Querying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42910" y="1500180"/>
            <a:ext cx="5857916" cy="3143273"/>
            <a:chOff x="642910" y="1214428"/>
            <a:chExt cx="6296860" cy="3591719"/>
          </a:xfrm>
        </p:grpSpPr>
        <p:sp>
          <p:nvSpPr>
            <p:cNvPr id="5" name="Text 4"/>
            <p:cNvSpPr/>
            <p:nvPr/>
          </p:nvSpPr>
          <p:spPr>
            <a:xfrm>
              <a:off x="642910" y="1214428"/>
              <a:ext cx="340213" cy="2126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300" dirty="0">
                  <a:latin typeface="DM Sans Light" pitchFamily="34" charset="0"/>
                  <a:ea typeface="DM Sans Light" pitchFamily="34" charset="-122"/>
                  <a:cs typeface="DM Sans Light" pitchFamily="34" charset="-120"/>
                </a:rPr>
                <a:t>01</a:t>
              </a:r>
              <a:endParaRPr lang="en-US" sz="1300" dirty="0"/>
            </a:p>
          </p:txBody>
        </p:sp>
        <p:sp>
          <p:nvSpPr>
            <p:cNvPr id="6" name="Shape 5"/>
            <p:cNvSpPr/>
            <p:nvPr/>
          </p:nvSpPr>
          <p:spPr>
            <a:xfrm>
              <a:off x="642910" y="1484403"/>
              <a:ext cx="3071835" cy="1905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7" name="Text 6"/>
            <p:cNvSpPr/>
            <p:nvPr/>
          </p:nvSpPr>
          <p:spPr>
            <a:xfrm>
              <a:off x="642910" y="1607533"/>
              <a:ext cx="2126403" cy="265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Clean &amp; Standardize</a:t>
              </a:r>
              <a:endParaRPr lang="en-US" sz="1650" dirty="0"/>
            </a:p>
          </p:txBody>
        </p:sp>
        <p:sp>
          <p:nvSpPr>
            <p:cNvPr id="8" name="Text 7"/>
            <p:cNvSpPr/>
            <p:nvPr/>
          </p:nvSpPr>
          <p:spPr>
            <a:xfrm>
              <a:off x="642910" y="1965018"/>
              <a:ext cx="3071835" cy="1292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3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Used Python (Pandas) to handle missing values, remove duplicates, standardize date/time formats, and correct data types for a structured dataset.</a:t>
              </a:r>
              <a:endParaRPr lang="en-US" sz="1300" dirty="0"/>
            </a:p>
          </p:txBody>
        </p:sp>
        <p:sp>
          <p:nvSpPr>
            <p:cNvPr id="9" name="Text 8"/>
            <p:cNvSpPr/>
            <p:nvPr/>
          </p:nvSpPr>
          <p:spPr>
            <a:xfrm>
              <a:off x="3867836" y="1214428"/>
              <a:ext cx="340213" cy="2126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300" dirty="0">
                  <a:latin typeface="DM Sans Light" pitchFamily="34" charset="0"/>
                  <a:ea typeface="DM Sans Light" pitchFamily="34" charset="-122"/>
                  <a:cs typeface="DM Sans Light" pitchFamily="34" charset="-120"/>
                </a:rPr>
                <a:t>02</a:t>
              </a:r>
              <a:endParaRPr lang="en-US" sz="1300" dirty="0"/>
            </a:p>
          </p:txBody>
        </p:sp>
        <p:sp>
          <p:nvSpPr>
            <p:cNvPr id="10" name="Shape 9"/>
            <p:cNvSpPr/>
            <p:nvPr/>
          </p:nvSpPr>
          <p:spPr>
            <a:xfrm>
              <a:off x="3867836" y="1484403"/>
              <a:ext cx="3071934" cy="1905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1" name="Text 10"/>
            <p:cNvSpPr/>
            <p:nvPr/>
          </p:nvSpPr>
          <p:spPr>
            <a:xfrm>
              <a:off x="3867836" y="1607533"/>
              <a:ext cx="2126403" cy="265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Import into MySQL</a:t>
              </a:r>
              <a:endParaRPr lang="en-US" sz="1650" dirty="0"/>
            </a:p>
          </p:txBody>
        </p:sp>
        <p:sp>
          <p:nvSpPr>
            <p:cNvPr id="12" name="Text 11"/>
            <p:cNvSpPr/>
            <p:nvPr/>
          </p:nvSpPr>
          <p:spPr>
            <a:xfrm>
              <a:off x="3867836" y="1965018"/>
              <a:ext cx="3071934" cy="1034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3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Loaded the cleaned dataset into MySQL for structured querying and relational analysis across product, city, and category dimensions.</a:t>
              </a:r>
              <a:endParaRPr lang="en-US" sz="1300" dirty="0"/>
            </a:p>
          </p:txBody>
        </p:sp>
        <p:sp>
          <p:nvSpPr>
            <p:cNvPr id="13" name="Text 12"/>
            <p:cNvSpPr/>
            <p:nvPr/>
          </p:nvSpPr>
          <p:spPr>
            <a:xfrm>
              <a:off x="642910" y="3538429"/>
              <a:ext cx="340213" cy="2126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300" dirty="0">
                  <a:latin typeface="DM Sans Light" pitchFamily="34" charset="0"/>
                  <a:ea typeface="DM Sans Light" pitchFamily="34" charset="-122"/>
                  <a:cs typeface="DM Sans Light" pitchFamily="34" charset="-120"/>
                </a:rPr>
                <a:t>03</a:t>
              </a:r>
              <a:endParaRPr lang="en-US" sz="1300" dirty="0"/>
            </a:p>
          </p:txBody>
        </p:sp>
        <p:sp>
          <p:nvSpPr>
            <p:cNvPr id="14" name="Shape 13"/>
            <p:cNvSpPr/>
            <p:nvPr/>
          </p:nvSpPr>
          <p:spPr>
            <a:xfrm>
              <a:off x="642910" y="3808403"/>
              <a:ext cx="6296860" cy="19050"/>
            </a:xfrm>
            <a:prstGeom prst="rect">
              <a:avLst/>
            </a:prstGeom>
            <a:solidFill>
              <a:schemeClr val="tx1"/>
            </a:solidFill>
            <a:ln/>
          </p:spPr>
        </p:sp>
        <p:sp>
          <p:nvSpPr>
            <p:cNvPr id="15" name="Text 14"/>
            <p:cNvSpPr/>
            <p:nvPr/>
          </p:nvSpPr>
          <p:spPr>
            <a:xfrm>
              <a:off x="642910" y="3931534"/>
              <a:ext cx="2126403" cy="265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Analyze with SQL</a:t>
              </a:r>
              <a:endParaRPr lang="en-US" sz="1650" dirty="0"/>
            </a:p>
          </p:txBody>
        </p:sp>
        <p:sp>
          <p:nvSpPr>
            <p:cNvPr id="16" name="Text 15"/>
            <p:cNvSpPr/>
            <p:nvPr/>
          </p:nvSpPr>
          <p:spPr>
            <a:xfrm>
              <a:off x="642910" y="4289019"/>
              <a:ext cx="6296860" cy="517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l">
                <a:lnSpc>
                  <a:spcPct val="127000"/>
                </a:lnSpc>
                <a:buNone/>
              </a:pPr>
              <a:r>
                <a:rPr lang="en-US" sz="13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Applied GROUP BY aggregations, ORDER BY sorting, and aggregate functions (SUM, AVG, COUNT) to extract meaningful business metrics.</a:t>
              </a:r>
              <a:endParaRPr lang="en-US" sz="13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0" y="1071552"/>
            <a:ext cx="6725672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From Raw Data to Structured Insights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661475" y="1214428"/>
            <a:ext cx="7268111" cy="3786214"/>
            <a:chOff x="661475" y="738589"/>
            <a:chExt cx="7820821" cy="4262053"/>
          </a:xfrm>
        </p:grpSpPr>
        <p:sp>
          <p:nvSpPr>
            <p:cNvPr id="4" name="Text 2"/>
            <p:cNvSpPr/>
            <p:nvPr/>
          </p:nvSpPr>
          <p:spPr>
            <a:xfrm>
              <a:off x="2619093" y="2267582"/>
              <a:ext cx="1356726" cy="1695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0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Total Revenue</a:t>
              </a:r>
              <a:endParaRPr lang="en-US" sz="10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250179" y="1308428"/>
              <a:ext cx="1121560" cy="339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0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Product Performance</a:t>
              </a:r>
              <a:endParaRPr lang="en-US" sz="10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564696" y="2170724"/>
              <a:ext cx="1013022" cy="339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0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City-wise Sales</a:t>
              </a:r>
              <a:endParaRPr lang="en-US" sz="10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346657" y="2755638"/>
              <a:ext cx="952723" cy="339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0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Category Contribution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194948" y="738589"/>
              <a:ext cx="832125" cy="3391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05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Payment Methods</a:t>
              </a:r>
              <a:endParaRPr lang="en-US" sz="10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61475" y="3715858"/>
              <a:ext cx="2545195" cy="1284784"/>
            </a:xfrm>
            <a:prstGeom prst="roundRect">
              <a:avLst>
                <a:gd name="adj" fmla="val 4325"/>
              </a:avLst>
            </a:prstGeom>
            <a:solidFill>
              <a:srgbClr val="1A3353"/>
            </a:solidFill>
            <a:ln w="19050">
              <a:solidFill>
                <a:srgbClr val="526B8B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12780" y="3867166"/>
              <a:ext cx="1653836" cy="2066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Revenue &amp; Products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12780" y="4129401"/>
              <a:ext cx="2242585" cy="71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sz="10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Tracks total revenue and highlights best-performing products and categories like Electronics and Fashion.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99239" y="3715858"/>
              <a:ext cx="2545195" cy="1284784"/>
            </a:xfrm>
            <a:prstGeom prst="roundRect">
              <a:avLst>
                <a:gd name="adj" fmla="val 4325"/>
              </a:avLst>
            </a:prstGeom>
            <a:solidFill>
              <a:srgbClr val="1A3353"/>
            </a:solidFill>
            <a:ln w="19050">
              <a:solidFill>
                <a:srgbClr val="526B8B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450543" y="3867166"/>
              <a:ext cx="1878164" cy="2066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Geography &amp; Payments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50543" y="4129401"/>
              <a:ext cx="2242585" cy="719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sz="10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Visualizes city-wise sales distribution with key markets like Hyderabad and Pune, and tracks digital vs. other payment methods.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937002" y="3715858"/>
              <a:ext cx="2545294" cy="1284784"/>
            </a:xfrm>
            <a:prstGeom prst="roundRect">
              <a:avLst>
                <a:gd name="adj" fmla="val 4325"/>
              </a:avLst>
            </a:prstGeom>
            <a:solidFill>
              <a:srgbClr val="1A3353"/>
            </a:solidFill>
            <a:ln w="19050">
              <a:solidFill>
                <a:srgbClr val="526B8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088307" y="3867166"/>
              <a:ext cx="1653836" cy="2066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00" dirty="0"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Sales Over Time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88307" y="4129401"/>
              <a:ext cx="2242685" cy="5399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13000"/>
                </a:lnSpc>
                <a:buNone/>
              </a:pPr>
              <a:r>
                <a:rPr lang="en-US" sz="1000" dirty="0"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Displays trends to identify peak sales hours and periods, enabling targeted promotional scheduling.</a:t>
              </a:r>
              <a:endParaRPr lang="en-US" sz="1000" dirty="0"/>
            </a:p>
          </p:txBody>
        </p:sp>
      </p:grp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5984" y="973655"/>
            <a:ext cx="4000528" cy="2741103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2572332" y="2500312"/>
            <a:ext cx="1356726" cy="16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</a:t>
            </a:r>
            <a:r>
              <a:rPr lang="en-US" sz="1050" dirty="0" smtClean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Profit</a:t>
            </a:r>
            <a:endParaRPr lang="en-US" sz="1050" dirty="0"/>
          </a:p>
        </p:txBody>
      </p:sp>
      <p:sp>
        <p:nvSpPr>
          <p:cNvPr id="21" name="Text 3"/>
          <p:cNvSpPr/>
          <p:nvPr/>
        </p:nvSpPr>
        <p:spPr>
          <a:xfrm>
            <a:off x="3929058" y="1785932"/>
            <a:ext cx="1121560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 Performance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5143504" y="2518312"/>
            <a:ext cx="1013022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City-wise Sales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4126889" y="3000378"/>
            <a:ext cx="952723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Category Contribution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2975180" y="1287081"/>
            <a:ext cx="832125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Payment Methods</a:t>
            </a:r>
            <a:endParaRPr lang="en-US" sz="1050" dirty="0"/>
          </a:p>
        </p:txBody>
      </p:sp>
      <p:sp>
        <p:nvSpPr>
          <p:cNvPr id="25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Power Bi 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8" y="1071552"/>
            <a:ext cx="8001056" cy="407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ScreenShots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Profit 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1000114"/>
            <a:ext cx="8643998" cy="41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88684" y="142858"/>
            <a:ext cx="4983382" cy="9366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Conclusion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785786" y="1214428"/>
          <a:ext cx="8072494" cy="371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On-screen Show (16:9)</PresentationFormat>
  <Paragraphs>80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SUPERSTORE Data (Retail Sales and Inventory )</vt:lpstr>
      <vt:lpstr>Team Member </vt:lpstr>
      <vt:lpstr>Table Of Content</vt:lpstr>
      <vt:lpstr>Project Overview</vt:lpstr>
      <vt:lpstr>Objective &amp; Goals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2026-06-12T06:30:08Z</dcterms:modified>
</cp:coreProperties>
</file>